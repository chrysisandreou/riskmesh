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3e12aaf4eb415c" /><Relationship Type="http://schemas.openxmlformats.org/officeDocument/2006/relationships/extended-properties" Target="/docProps/app.xml" Id="R6f8f76a0d651467c" /><Relationship Type="http://schemas.openxmlformats.org/officeDocument/2006/relationships/officeDocument" Target="/ppt/presentation.xml" Id="R69c75fd9304d435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e509aeeb4ff4929"/>
  </p:sldMasterIdLst>
  <p:notesMasterIdLst>
    <p:notesMasterId xmlns:r="http://schemas.openxmlformats.org/officeDocument/2006/relationships" r:id="R52be61b34c224f91"/>
  </p:notesMasterIdLst>
  <p:sldIdLst>
    <p:sldId xmlns:r="http://schemas.openxmlformats.org/officeDocument/2006/relationships" id="256" r:id="Rdfcf4b031b1741c7"/>
    <p:sldId xmlns:r="http://schemas.openxmlformats.org/officeDocument/2006/relationships" id="257" r:id="Rc6a0ea85b0e04ec5"/>
    <p:sldId xmlns:r="http://schemas.openxmlformats.org/officeDocument/2006/relationships" id="258" r:id="R0d57296388bf46a4"/>
    <p:sldId xmlns:r="http://schemas.openxmlformats.org/officeDocument/2006/relationships" id="259" r:id="R5af05508575845cf"/>
    <p:sldId xmlns:r="http://schemas.openxmlformats.org/officeDocument/2006/relationships" id="260" r:id="Re718d86676b54c7d"/>
    <p:sldId xmlns:r="http://schemas.openxmlformats.org/officeDocument/2006/relationships" id="261" r:id="R4fcebfbcb50648f7"/>
    <p:sldId xmlns:r="http://schemas.openxmlformats.org/officeDocument/2006/relationships" id="262" r:id="R207ff70453ab4b3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30c29531944ea2" /><Relationship Type="http://schemas.openxmlformats.org/officeDocument/2006/relationships/slideMaster" Target="/ppt/slideMasters/slideMaster1.xml" Id="Rde509aeeb4ff4929" /><Relationship Type="http://schemas.openxmlformats.org/officeDocument/2006/relationships/notesMaster" Target="/ppt/notesMasters/notesMaster1.xml" Id="R52be61b34c224f91" /><Relationship Type="http://schemas.openxmlformats.org/officeDocument/2006/relationships/presProps" Target="/ppt/presProps.xml" Id="Rdb3176a87e0d48c3" /><Relationship Type="http://schemas.openxmlformats.org/officeDocument/2006/relationships/viewProps" Target="/ppt/viewProps.xml" Id="Rdcb9df7653cf4e1e" /><Relationship Type="http://schemas.openxmlformats.org/officeDocument/2006/relationships/tableStyles" Target="/ppt/tableStyles.xml" Id="R23c93d7d5ac2455b" /><Relationship Type="http://schemas.openxmlformats.org/officeDocument/2006/relationships/slide" Target="/ppt/slides/slide1.xml" Id="Rdfcf4b031b1741c7" /><Relationship Type="http://schemas.openxmlformats.org/officeDocument/2006/relationships/slide" Target="/ppt/slides/slide2.xml" Id="Rc6a0ea85b0e04ec5" /><Relationship Type="http://schemas.openxmlformats.org/officeDocument/2006/relationships/slide" Target="/ppt/slides/slide3.xml" Id="R0d57296388bf46a4" /><Relationship Type="http://schemas.openxmlformats.org/officeDocument/2006/relationships/slide" Target="/ppt/slides/slide4.xml" Id="R5af05508575845cf" /><Relationship Type="http://schemas.openxmlformats.org/officeDocument/2006/relationships/slide" Target="/ppt/slides/slide5.xml" Id="Re718d86676b54c7d" /><Relationship Type="http://schemas.openxmlformats.org/officeDocument/2006/relationships/slide" Target="/ppt/slides/slide6.xml" Id="R4fcebfbcb50648f7" /><Relationship Type="http://schemas.openxmlformats.org/officeDocument/2006/relationships/slide" Target="/ppt/slides/slide7.xml" Id="R207ff70453ab4b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b0c83210be4ea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b1785702f014cfb" /><Relationship Type="http://schemas.openxmlformats.org/officeDocument/2006/relationships/notesMaster" Target="/ppt/notesMasters/notesMaster1.xml" Id="R9ee17867044d44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573517040914ff0" /><Relationship Type="http://schemas.openxmlformats.org/officeDocument/2006/relationships/notesMaster" Target="/ppt/notesMasters/notesMaster1.xml" Id="R91776184199440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be4d5cea734c5d" /><Relationship Type="http://schemas.openxmlformats.org/officeDocument/2006/relationships/notesMaster" Target="/ppt/notesMasters/notesMaster1.xml" Id="R63ab9e46455441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e8fbcd6a7424f57" /><Relationship Type="http://schemas.openxmlformats.org/officeDocument/2006/relationships/notesMaster" Target="/ppt/notesMasters/notesMaster1.xml" Id="R219e5f56108349c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535d3d9078b47a7" /><Relationship Type="http://schemas.openxmlformats.org/officeDocument/2006/relationships/notesMaster" Target="/ppt/notesMasters/notesMaster1.xml" Id="R253c4bb823b94b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273b98a925b4921" /><Relationship Type="http://schemas.openxmlformats.org/officeDocument/2006/relationships/notesMaster" Target="/ppt/notesMasters/notesMaster1.xml" Id="R4873cd387753449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a141287f6c4c57" /><Relationship Type="http://schemas.openxmlformats.org/officeDocument/2006/relationships/notesMaster" Target="/ppt/notesMasters/notesMaster1.xml" Id="R8bc4b55eed4340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109b173d0342e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96363ade2074845" /><Relationship Type="http://schemas.openxmlformats.org/officeDocument/2006/relationships/slideLayout" Target="/ppt/slideLayouts/slideLayout1.xml" Id="Rdd86ba71f91440f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86ba71f91440f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cd942d602447d9" /><Relationship Type="http://schemas.openxmlformats.org/officeDocument/2006/relationships/notesSlide" Target="/ppt/notesSlides/notesSlide1.xml" Id="R576c637da35a4ab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5b04fd751a423d" /><Relationship Type="http://schemas.openxmlformats.org/officeDocument/2006/relationships/notesSlide" Target="/ppt/notesSlides/notesSlide2.xml" Id="R22138f70c9f74f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313c0fe56b48fa" /><Relationship Type="http://schemas.openxmlformats.org/officeDocument/2006/relationships/notesSlide" Target="/ppt/notesSlides/notesSlide3.xml" Id="R367267c160c14a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ee2a17c0b740ed" /><Relationship Type="http://schemas.openxmlformats.org/officeDocument/2006/relationships/image" Target="/ppt/media/image.png" Id="Rb48c4c0d117e4a84" /><Relationship Type="http://schemas.openxmlformats.org/officeDocument/2006/relationships/notesSlide" Target="/ppt/notesSlides/notesSlide4.xml" Id="R755fb834cd5141f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1343c58fe04851" /><Relationship Type="http://schemas.openxmlformats.org/officeDocument/2006/relationships/notesSlide" Target="/ppt/notesSlides/notesSlide5.xml" Id="Ra70b3bd1fe684b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c29184793f4285" /><Relationship Type="http://schemas.openxmlformats.org/officeDocument/2006/relationships/notesSlide" Target="/ppt/notesSlides/notesSlide6.xml" Id="R1f7869088895415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f218bcf00c419b" /><Relationship Type="http://schemas.openxmlformats.org/officeDocument/2006/relationships/notesSlide" Target="/ppt/notesSlides/notesSlide7.xml" Id="R4157ac3fcb7c49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01-marker">
            <a:extLst xmlns:a="http://schemas.openxmlformats.org/drawingml/2006/main">
              <a:ext uri="{FF2B5EF4-FFF2-40B4-BE49-F238E27FC236}">
                <a16:creationId xmlns:a16="http://schemas.microsoft.com/office/drawing/2014/main" id="{45137DAC-6FFF-4EF3-A280-AF4065D9D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7625" cy="1714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F0C0"/>
          </a:solidFill>
          <a:ln xmlns:a="http://schemas.openxmlformats.org/drawingml/2006/main" w="0">
            <a:solidFill>
              <a:srgbClr val="4DF0C0"/>
            </a:solidFill>
            <a:prstDash val="solid"/>
          </a:ln>
        </p:spPr>
      </p:sp>
      <p:sp>
        <p:nvSpPr>
          <p:cNvPr id="2" name="kicker-01-label">
            <a:extLst xmlns:a="http://schemas.openxmlformats.org/drawingml/2006/main">
              <a:ext uri="{FF2B5EF4-FFF2-40B4-BE49-F238E27FC236}">
                <a16:creationId xmlns:a16="http://schemas.microsoft.com/office/drawing/2014/main" id="{CDE75163-06AA-4B2F-B64F-68B2D500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THE NEW ECONOMIC ACTOR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1DDBF9-AE91-4B84-A2BB-AFA13C49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762000"/>
            <a:ext cx="4000500" cy="4953000"/>
          </a:xfrm>
          <a:prstGeom xmlns:a="http://schemas.openxmlformats.org/drawingml/2006/main" prst="roundRect">
            <a:avLst>
              <a:gd name="adj" fmla="val 6190"/>
            </a:avLst>
          </a:prstGeom>
          <a:solidFill xmlns:a="http://schemas.openxmlformats.org/drawingml/2006/main">
            <a:srgbClr val="0A1826"/>
          </a:solidFill>
          <a:ln xmlns:a="http://schemas.openxmlformats.org/drawingml/2006/main" w="9525">
            <a:solidFill>
              <a:srgbClr val="1B354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C0BFAA-860E-4C00-9C3B-2CBEBCBF4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790700"/>
            <a:ext cx="2133600" cy="213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2430"/>
          </a:solidFill>
          <a:ln xmlns:a="http://schemas.openxmlformats.org/drawingml/2006/main" w="28575">
            <a:solidFill>
              <a:srgbClr val="4DF0C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28B492-67DF-4BA0-8027-38873866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362200"/>
            <a:ext cx="1476375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t>RISK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07F50E-8CE9-46C3-A555-403D9CE5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14650"/>
            <a:ext cx="157162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EXCHANGE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784C8E-9238-4C74-872B-D647F5EA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2382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EA7FF"/>
          </a:solidFill>
          <a:ln xmlns:a="http://schemas.openxmlformats.org/drawingml/2006/main" w="0">
            <a:solidFill>
              <a:srgbClr val="5EA7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05FB79-3352-4D15-A08E-2B8CED87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352550"/>
            <a:ext cx="247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t>A1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F729E7-E599-4626-80B1-42238137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12763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9FF"/>
          </a:solidFill>
          <a:ln xmlns:a="http://schemas.openxmlformats.org/drawingml/2006/main" w="0">
            <a:solidFill>
              <a:srgbClr val="C989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CE98BD-F6EB-435C-8CF4-F65E73BA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1390650"/>
            <a:ext cx="247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t>A2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DCD1F4-3E42-422A-B4CA-85BC94E6B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6576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86B"/>
          </a:solidFill>
          <a:ln xmlns:a="http://schemas.openxmlformats.org/drawingml/2006/main" w="0">
            <a:solidFill>
              <a:srgbClr val="FFB86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F4C299-C7FC-4540-8E98-7C10D5D9C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771900"/>
            <a:ext cx="247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t>A3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C09EE3-586B-4840-959F-E2967AC9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719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F0C0"/>
          </a:solidFill>
          <a:ln xmlns:a="http://schemas.openxmlformats.org/drawingml/2006/main" w="0">
            <a:solidFill>
              <a:srgbClr val="4DF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2EF25F-A30F-428A-8C7C-69BBD0BFD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86250"/>
            <a:ext cx="247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t>A4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444188-DBC5-478C-AE5B-588A52E22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762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EA7FF"/>
          </a:solidFill>
          <a:ln xmlns:a="http://schemas.openxmlformats.org/drawingml/2006/main" w="0">
            <a:solidFill>
              <a:srgbClr val="5EA7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BC0EFC-FF4B-4088-9C8F-C7BC5F47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876800"/>
            <a:ext cx="247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t>A5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E1F4D2-2FDC-48E2-9856-80E8F5C0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6572250" cy="1762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2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t>Agents learned to pay. Now they need a market for risk.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F3B9D9-45F8-4D34-8A1E-73BBD6B7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14700"/>
            <a:ext cx="58102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90A2BA"/>
                </a:solidFill>
                <a:latin typeface="Aptos"/>
                <a:ea typeface="Aptos"/>
                <a:cs typeface="Aptos"/>
              </a:defRPr>
            </a:pPr>
            <a:r>
              <a:t>RiskMesh is the agent-to-agent exchange for tiny, bespoke, short-lived contingent claims.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7786DD-CB3E-4C4F-BA72-25C1183E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52950"/>
            <a:ext cx="3429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4DF0C0"/>
                </a:solidFill>
                <a:latin typeface="Aptos Display"/>
                <a:ea typeface="Aptos Display"/>
                <a:cs typeface="Aptos Display"/>
              </a:defRPr>
            </a:pPr>
            <a:r>
              <a:t>RISKMESH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FF6235-22F8-413E-A1C3-0A6B9986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72075"/>
            <a:ext cx="5905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4F8FF"/>
                </a:solidFill>
                <a:latin typeface="Aptos Mono"/>
                <a:ea typeface="Aptos Mono"/>
                <a:cs typeface="Aptos Mono"/>
              </a:defRPr>
            </a:pPr>
            <a:r>
              <a:t>BELIEF  ·  COLLATERAL  ·  SETTLEMENT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829386-3B6C-4AEA-AE7D-A2DCD4B10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9715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792"/>
                </a:solidFill>
                <a:latin typeface="Aptos"/>
                <a:ea typeface="Aptos"/>
                <a:cs typeface="Aptos"/>
              </a:defRPr>
            </a:pPr>
            <a:r>
              <a:t>iFX Hack 2026 · AI &amp; Intelligent Trading · Limassol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E84538-A997-4679-943B-E2599432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24625"/>
            <a:ext cx="3238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344995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340B0434-E2F2-4E5E-93D9-596E42C8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7625" cy="1714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F0C0"/>
          </a:solidFill>
          <a:ln xmlns:a="http://schemas.openxmlformats.org/drawingml/2006/main" w="0">
            <a:solidFill>
              <a:srgbClr val="4DF0C0"/>
            </a:solidFill>
            <a:prstDash val="solid"/>
          </a:ln>
        </p:spPr>
      </p:sp>
      <p:sp>
        <p:nvSpPr>
          <p:cNvPr id="2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AE88DA9E-11D4-4171-BECB-68BE50252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THE MISSING LAYER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5DBB8B-14F2-499E-A468-EA11EB301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572750" cy="1009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t>The rails move money for services. Nobody has built the risk market above them.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1BF347-22D1-4BB3-8CA6-C9583FBA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47875"/>
            <a:ext cx="3048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MARKET LAYER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3C015A-E9A3-435E-A1AA-29EE1AC2E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0972800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A2029"/>
          </a:solidFill>
          <a:ln xmlns:a="http://schemas.openxmlformats.org/drawingml/2006/main" w="19050">
            <a:solidFill>
              <a:srgbClr val="4DF0C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D6C0CE-C991-4C05-99A0-5D1DB99E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81275"/>
            <a:ext cx="2333625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4DF0C0"/>
                </a:solidFill>
                <a:latin typeface="Aptos Display"/>
                <a:ea typeface="Aptos Display"/>
                <a:cs typeface="Aptos Display"/>
              </a:defRPr>
            </a:pPr>
            <a:r>
              <a:t>RISKMESH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BB2B64-2984-4688-956F-ABD710B8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0375"/>
            <a:ext cx="3143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Prices and transfers contingent risk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2C11E7-E55A-4266-8B4E-93C57917F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09850"/>
            <a:ext cx="190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6"/>
          </a:solidFill>
          <a:ln xmlns:a="http://schemas.openxmlformats.org/drawingml/2006/main" w="0">
            <a:solidFill>
              <a:srgbClr val="29405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1B2693-E250-4A21-8992-0C6B6F31A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590800"/>
            <a:ext cx="19621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BELIEF PRICE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2C36C0-AC03-4A72-AAEF-1730BEF69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14650"/>
            <a:ext cx="19621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0A2BA"/>
                </a:solidFill>
                <a:latin typeface="Aptos"/>
                <a:ea typeface="Aptos"/>
                <a:cs typeface="Aptos"/>
              </a:defRPr>
            </a:pPr>
            <a:r>
              <a:t>Track-record-weighted probability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2F04BD-D296-4F9E-9F89-30EEA24E8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09850"/>
            <a:ext cx="190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6"/>
          </a:solidFill>
          <a:ln xmlns:a="http://schemas.openxmlformats.org/drawingml/2006/main" w="0">
            <a:solidFill>
              <a:srgbClr val="29405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12CF69-C5BA-4655-BF40-8EB31DA4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90800"/>
            <a:ext cx="19621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MICRO-RISK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E0E41A-624C-46E9-A58B-AF0EA7C0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914650"/>
            <a:ext cx="19621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0A2BA"/>
                </a:solidFill>
                <a:latin typeface="Aptos"/>
                <a:ea typeface="Aptos"/>
                <a:cs typeface="Aptos"/>
              </a:defRPr>
            </a:pPr>
            <a:r>
              <a:t>Bespoke binary claim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9090A3-C08E-4FC8-9095-35FDABF7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609850"/>
            <a:ext cx="190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6"/>
          </a:solidFill>
          <a:ln xmlns:a="http://schemas.openxmlformats.org/drawingml/2006/main" w="0">
            <a:solidFill>
              <a:srgbClr val="29405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882C79-0DDF-42AF-BE97-0416A7610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590800"/>
            <a:ext cx="19621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CLEARING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1CB3A1-1ABE-457D-8F0B-FCDB2CF7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914650"/>
            <a:ext cx="19621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0A2BA"/>
                </a:solidFill>
                <a:latin typeface="Aptos"/>
                <a:ea typeface="Aptos"/>
                <a:cs typeface="Aptos"/>
              </a:defRPr>
            </a:pPr>
            <a:r>
              <a:t>Collateral + deterministic settlement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B52728-7F7B-4E0E-B42B-EBE33C35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10025"/>
            <a:ext cx="4381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EA7FF"/>
                </a:solidFill>
                <a:latin typeface="Aptos"/>
                <a:ea typeface="Aptos"/>
                <a:cs typeface="Aptos"/>
              </a:defRPr>
            </a:pPr>
            <a:r>
              <a:t>AGENT RAILS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3BA355-D220-467E-9CB4-177E6F77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0972800" cy="1219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A1725"/>
          </a:solidFill>
          <a:ln xmlns:a="http://schemas.openxmlformats.org/drawingml/2006/main" w="9525">
            <a:solidFill>
              <a:srgbClr val="23405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B512B-17DB-4DD4-BA44-3F843D4C3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2133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Google A2A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34E0A9-95B2-448B-880C-B84A7E4A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62525"/>
            <a:ext cx="2133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EA7FF"/>
                </a:solidFill>
                <a:latin typeface="Aptos"/>
                <a:ea typeface="Aptos"/>
                <a:cs typeface="Aptos"/>
              </a:defRPr>
            </a:pPr>
            <a:r>
              <a:t>communicate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BB0989-491B-4589-8DBC-A988A38D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543425"/>
            <a:ext cx="2133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Google AP2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2A6CAD-4316-4D49-8ED6-92692ED72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62525"/>
            <a:ext cx="2133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EA7FF"/>
                </a:solidFill>
                <a:latin typeface="Aptos"/>
                <a:ea typeface="Aptos"/>
                <a:cs typeface="Aptos"/>
              </a:defRPr>
            </a:pPr>
            <a:r>
              <a:t>authorize + pay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2C72DE-871A-44A6-B6AF-737FEED8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543425"/>
            <a:ext cx="2133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Coinbase x402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9ACFE0-9F6C-48FC-A470-D02F2DD7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62525"/>
            <a:ext cx="2133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EA7FF"/>
                </a:solidFill>
                <a:latin typeface="Aptos"/>
                <a:ea typeface="Aptos"/>
                <a:cs typeface="Aptos"/>
              </a:defRPr>
            </a:pPr>
            <a:r>
              <a:t>pay for services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E15146-484B-4FFC-9F72-CEF2F86D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43425"/>
            <a:ext cx="2133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ERC-8004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0834B9-E900-4025-A32F-DB6946D0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962525"/>
            <a:ext cx="2133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EA7FF"/>
                </a:solidFill>
                <a:latin typeface="Aptos"/>
                <a:ea typeface="Aptos"/>
                <a:cs typeface="Aptos"/>
              </a:defRPr>
            </a:pPr>
            <a:r>
              <a:t>discover +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AA528E-BECF-4AEE-8251-8B1E8F1A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86B"/>
          </a:solidFill>
          <a:ln xmlns:a="http://schemas.openxmlformats.org/drawingml/2006/main" w="0">
            <a:solidFill>
              <a:srgbClr val="FFB86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F0D8D1-7846-4EE2-B213-FAE8AD5AB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800475"/>
            <a:ext cx="3524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B86B"/>
                </a:solidFill>
                <a:latin typeface="Aptos"/>
                <a:ea typeface="Aptos"/>
                <a:cs typeface="Aptos"/>
              </a:defRPr>
            </a:pPr>
            <a:r>
              <a:t>UNPRICED CONTINGENT RISK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75EAEB-36F6-44D5-A85C-0264E49EC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9334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Position: be the exchange on top of agent rails — not another rail.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7E0282-856B-42C4-B8F7-5C5AFA5C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9715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792"/>
                </a:solidFill>
                <a:latin typeface="Aptos"/>
                <a:ea typeface="Aptos"/>
                <a:cs typeface="Aptos"/>
              </a:defRPr>
            </a:pPr>
            <a:r>
              <a:t>Official sources: Google A2A + AP2 · Coinbase x402 docs · EIP-8004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E44A49-3CCD-433B-92C8-FBCBDFBB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24625"/>
            <a:ext cx="3238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755929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72D8031D-EF6B-4490-8C64-C3D9EC27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7625" cy="1714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F0C0"/>
          </a:solidFill>
          <a:ln xmlns:a="http://schemas.openxmlformats.org/drawingml/2006/main" w="0">
            <a:solidFill>
              <a:srgbClr val="4DF0C0"/>
            </a:solidFill>
            <a:prstDash val="solid"/>
          </a:ln>
        </p:spPr>
      </p:sp>
      <p:sp>
        <p:nvSpPr>
          <p:cNvPr id="2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DE813DB5-A511-4548-92D0-E5373EED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TWO NEW PRIMITIVES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D50A9E-D069-4480-85CD-5E1C34EA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6680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t>Competing AI beliefs become a live premium for contracts only machines can trade.</a:t>
            </a:r>
          </a:p>
        </p:txBody>
      </p:sp>
      <p:sp>
        <p:nvSpPr>
          <p:cNvPr id="4" name="agent-1">
            <a:extLst xmlns:a="http://schemas.openxmlformats.org/drawingml/2006/main">
              <a:ext uri="{FF2B5EF4-FFF2-40B4-BE49-F238E27FC236}">
                <a16:creationId xmlns:a16="http://schemas.microsoft.com/office/drawing/2014/main" id="{DB7DA82F-ABE4-4C56-8B89-B9448F5C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2152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1A29"/>
          </a:solidFill>
          <a:ln xmlns:a="http://schemas.openxmlformats.org/drawingml/2006/main" w="9525">
            <a:solidFill>
              <a:srgbClr val="5EA7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AA101C-70C8-4D11-A777-14FA14CC7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71675"/>
            <a:ext cx="12001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Momentum-7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9EA68D-5F08-448D-B4FC-B20088C4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196215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EA7FF"/>
                </a:solidFill>
                <a:latin typeface="Aptos Mono"/>
                <a:ea typeface="Aptos Mono"/>
                <a:cs typeface="Aptos Mono"/>
              </a:defRPr>
            </a:pPr>
            <a:r>
              <a:t>61%</a:t>
            </a:r>
          </a:p>
        </p:txBody>
      </p:sp>
      <p:sp>
        <p:nvSpPr>
          <p:cNvPr id="7" name="agent-2">
            <a:extLst xmlns:a="http://schemas.openxmlformats.org/drawingml/2006/main">
              <a:ext uri="{FF2B5EF4-FFF2-40B4-BE49-F238E27FC236}">
                <a16:creationId xmlns:a16="http://schemas.microsoft.com/office/drawing/2014/main" id="{AB70E15E-E822-4DA1-9797-E2A3A086F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2152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1A29"/>
          </a:solidFill>
          <a:ln xmlns:a="http://schemas.openxmlformats.org/drawingml/2006/main" w="9525">
            <a:solidFill>
              <a:srgbClr val="FFB86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A6300B-0FE7-48BD-ABF4-0B79966B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2001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Revert-9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A8B468-27E5-4C24-A9BF-D1A02CD48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70510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FFB86B"/>
                </a:solidFill>
                <a:latin typeface="Aptos Mono"/>
                <a:ea typeface="Aptos Mono"/>
                <a:cs typeface="Aptos Mono"/>
              </a:defRPr>
            </a:pPr>
            <a:r>
              <a:t>42%</a:t>
            </a:r>
          </a:p>
        </p:txBody>
      </p:sp>
      <p:sp>
        <p:nvSpPr>
          <p:cNvPr id="10" name="agent-3">
            <a:extLst xmlns:a="http://schemas.openxmlformats.org/drawingml/2006/main">
              <a:ext uri="{FF2B5EF4-FFF2-40B4-BE49-F238E27FC236}">
                <a16:creationId xmlns:a16="http://schemas.microsoft.com/office/drawing/2014/main" id="{F94EDE00-3E42-4E0B-9CBD-679821E7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2152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1A29"/>
          </a:solidFill>
          <a:ln xmlns:a="http://schemas.openxmlformats.org/drawingml/2006/main" w="9525">
            <a:solidFill>
              <a:srgbClr val="C989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63EB7D-B66E-4D47-802B-6078B550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57575"/>
            <a:ext cx="12001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VolGuard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685021-C98D-48F2-BD63-00A9BA6D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44805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C989FF"/>
                </a:solidFill>
                <a:latin typeface="Aptos Mono"/>
                <a:ea typeface="Aptos Mono"/>
                <a:cs typeface="Aptos Mono"/>
              </a:defRPr>
            </a:pPr>
            <a:r>
              <a:t>70%</a:t>
            </a:r>
          </a:p>
        </p:txBody>
      </p:sp>
      <p:sp>
        <p:nvSpPr>
          <p:cNvPr id="13" name="agent-4">
            <a:extLst xmlns:a="http://schemas.openxmlformats.org/drawingml/2006/main">
              <a:ext uri="{FF2B5EF4-FFF2-40B4-BE49-F238E27FC236}">
                <a16:creationId xmlns:a16="http://schemas.microsoft.com/office/drawing/2014/main" id="{08247557-578D-4A8B-BD71-943957C5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2152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1A29"/>
          </a:solidFill>
          <a:ln xmlns:a="http://schemas.openxmlformats.org/drawingml/2006/main" w="9525">
            <a:solidFill>
              <a:srgbClr val="FF6B9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1897E7-A9DC-4396-A8FA-6B39E170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12001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FlowLens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93381D-A9B3-4A8E-B957-FA884F1EF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19100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FF6B9A"/>
                </a:solidFill>
                <a:latin typeface="Aptos Mono"/>
                <a:ea typeface="Aptos Mono"/>
                <a:cs typeface="Aptos Mono"/>
              </a:defRPr>
            </a:pPr>
            <a:r>
              <a:t>38%</a:t>
            </a:r>
          </a:p>
        </p:txBody>
      </p:sp>
      <p:sp>
        <p:nvSpPr>
          <p:cNvPr id="16" name="agent-5">
            <a:extLst xmlns:a="http://schemas.openxmlformats.org/drawingml/2006/main">
              <a:ext uri="{FF2B5EF4-FFF2-40B4-BE49-F238E27FC236}">
                <a16:creationId xmlns:a16="http://schemas.microsoft.com/office/drawing/2014/main" id="{CAD4DF82-6153-417E-814C-A14F2A77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2152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1A29"/>
          </a:solidFill>
          <a:ln xmlns:a="http://schemas.openxmlformats.org/drawingml/2006/main" w="9525">
            <a:solidFill>
              <a:srgbClr val="A3E6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201DEB-9969-4BAA-950B-618074BA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43475"/>
            <a:ext cx="12001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BaseRate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C9E61F-B7E1-4D1A-8D69-E793392C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3395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A3E635"/>
                </a:solidFill>
                <a:latin typeface="Aptos Mono"/>
                <a:ea typeface="Aptos Mono"/>
                <a:cs typeface="Aptos Mono"/>
              </a:defRPr>
            </a:pPr>
            <a:r>
              <a:t>55%</a:t>
            </a:r>
          </a:p>
        </p:txBody>
      </p:sp>
      <p:sp>
        <p:nvSpPr>
          <p:cNvPr id="19" name="blend-node">
            <a:extLst xmlns:a="http://schemas.openxmlformats.org/drawingml/2006/main">
              <a:ext uri="{FF2B5EF4-FFF2-40B4-BE49-F238E27FC236}">
                <a16:creationId xmlns:a16="http://schemas.microsoft.com/office/drawing/2014/main" id="{5FFB58C2-47B7-481F-96FB-B0C4FC61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05100"/>
            <a:ext cx="2381250" cy="17526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0B222A"/>
          </a:solidFill>
          <a:ln xmlns:a="http://schemas.openxmlformats.org/drawingml/2006/main" w="19050">
            <a:solidFill>
              <a:srgbClr val="4DF0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053F30-60DB-4A6D-B089-10F45D541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952750"/>
            <a:ext cx="1924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BELIEF STREAM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C3ACFE-10D3-4DB3-AE4C-73338DFE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62325"/>
            <a:ext cx="1809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4F8FF"/>
                </a:solidFill>
                <a:latin typeface="Aptos Mono"/>
                <a:ea typeface="Aptos Mono"/>
                <a:cs typeface="Aptos Mono"/>
              </a:defRPr>
            </a:pPr>
            <a:r>
              <a:t>Σ wi · pi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0469E1-37C1-4A97-BBA4-1D3B57D14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810000"/>
            <a:ext cx="1295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A2BA"/>
          </a:solidFill>
          <a:ln xmlns:a="http://schemas.openxmlformats.org/drawingml/2006/main" w="0">
            <a:solidFill>
              <a:srgbClr val="90A2B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AB9127-43AD-47E8-BB39-A02588EF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86200"/>
            <a:ext cx="1809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90A2BA"/>
                </a:solidFill>
                <a:latin typeface="Aptos Mono"/>
                <a:ea typeface="Aptos Mono"/>
                <a:cs typeface="Aptos Mono"/>
              </a:defRPr>
            </a:pPr>
            <a:r>
              <a:t>Σ wi</a:t>
            </a:r>
          </a:p>
        </p:txBody>
      </p:sp>
      <p:sp>
        <p:nvSpPr>
          <p:cNvPr id="24" name="price-node">
            <a:extLst xmlns:a="http://schemas.openxmlformats.org/drawingml/2006/main">
              <a:ext uri="{FF2B5EF4-FFF2-40B4-BE49-F238E27FC236}">
                <a16:creationId xmlns:a16="http://schemas.microsoft.com/office/drawing/2014/main" id="{8DF2D98E-8068-4F93-BF2F-9B46B950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76550"/>
            <a:ext cx="1752600" cy="1390650"/>
          </a:xfrm>
          <a:prstGeom xmlns:a="http://schemas.openxmlformats.org/drawingml/2006/main" prst="roundRect">
            <a:avLst>
              <a:gd name="adj" fmla="val 12329"/>
            </a:avLst>
          </a:prstGeom>
          <a:solidFill xmlns:a="http://schemas.openxmlformats.org/drawingml/2006/main">
            <a:srgbClr val="4DF0C0"/>
          </a:solidFill>
          <a:ln xmlns:a="http://schemas.openxmlformats.org/drawingml/2006/main" w="0">
            <a:solidFill>
              <a:srgbClr val="4DF0C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3D621E-E8C4-41CB-98F2-10D0BF91A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05150"/>
            <a:ext cx="1333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t>FAIR PRICE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ACDCA6-833C-4B0E-9371-64BB35C87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48050"/>
            <a:ext cx="1333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7111F"/>
                </a:solidFill>
                <a:latin typeface="Aptos Mono"/>
                <a:ea typeface="Aptos Mono"/>
                <a:cs typeface="Aptos Mono"/>
              </a:defRPr>
            </a:pPr>
            <a:r>
              <a:t>52.7%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DB9444-028E-4069-8A57-2064937DE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886200"/>
            <a:ext cx="1333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t>$13.18 premium</a:t>
            </a:r>
          </a:p>
        </p:txBody>
      </p:sp>
      <p:sp>
        <p:nvSpPr>
          <p:cNvPr id="28" name="contract-node">
            <a:extLst xmlns:a="http://schemas.openxmlformats.org/drawingml/2006/main">
              <a:ext uri="{FF2B5EF4-FFF2-40B4-BE49-F238E27FC236}">
                <a16:creationId xmlns:a16="http://schemas.microsoft.com/office/drawing/2014/main" id="{01F5DEB8-677E-411F-B391-18B9840B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038350"/>
            <a:ext cx="2457450" cy="30480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0A1826"/>
          </a:solidFill>
          <a:ln xmlns:a="http://schemas.openxmlformats.org/drawingml/2006/main" w="9525">
            <a:solidFill>
              <a:srgbClr val="FFB86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C9E6A2-CC3C-457C-95F1-1763DD28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266950"/>
            <a:ext cx="195262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B86B"/>
                </a:solidFill>
                <a:latin typeface="Aptos"/>
                <a:ea typeface="Aptos"/>
                <a:cs typeface="Aptos"/>
              </a:defRPr>
            </a:pPr>
            <a:r>
              <a:t>MICRO-RISK CONTRACT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245069-EE23-4CE8-8830-FD81F96E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952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07792"/>
                </a:solidFill>
                <a:latin typeface="Aptos"/>
                <a:ea typeface="Aptos"/>
                <a:cs typeface="Aptos"/>
              </a:defRPr>
            </a:pPr>
            <a:r>
              <a:t>UNDERLYING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D0C1F0-86CE-4F05-85CB-46D66453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914650"/>
            <a:ext cx="19526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8FF"/>
                </a:solidFill>
                <a:latin typeface="Aptos Mono"/>
                <a:ea typeface="Aptos Mono"/>
                <a:cs typeface="Aptos Mono"/>
              </a:defRPr>
            </a:pPr>
            <a:r>
              <a:t>BTCUSDT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90B570-7428-49A0-AA97-801B255F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57550"/>
            <a:ext cx="952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07792"/>
                </a:solidFill>
                <a:latin typeface="Aptos"/>
                <a:ea typeface="Aptos"/>
                <a:cs typeface="Aptos"/>
              </a:defRPr>
            </a:pPr>
            <a:r>
              <a:t>TRIGGER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87E66D-8ED2-4F5F-A336-2348851A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448050"/>
            <a:ext cx="19526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8FF"/>
                </a:solidFill>
                <a:latin typeface="Aptos Mono"/>
                <a:ea typeface="Aptos Mono"/>
                <a:cs typeface="Aptos Mono"/>
              </a:defRPr>
            </a:pPr>
            <a:r>
              <a:t>close &gt; $64,637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F72E4A-F988-4C76-9314-2DB3F61C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790950"/>
            <a:ext cx="952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07792"/>
                </a:solidFill>
                <a:latin typeface="Aptos"/>
                <a:ea typeface="Aptos"/>
                <a:cs typeface="Aptos"/>
              </a:defRPr>
            </a:pPr>
            <a:r>
              <a:t>EXPIRY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2568E1-9046-4990-89AC-0402D2B2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981450"/>
            <a:ext cx="19526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8FF"/>
                </a:solidFill>
                <a:latin typeface="Aptos Mono"/>
                <a:ea typeface="Aptos Mono"/>
                <a:cs typeface="Aptos Mono"/>
              </a:defRPr>
            </a:pPr>
            <a:r>
              <a:t>T + 6 replay ticks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D9A5918-BAE3-4D4A-9FF9-BDD0B255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324350"/>
            <a:ext cx="952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07792"/>
                </a:solidFill>
                <a:latin typeface="Aptos"/>
                <a:ea typeface="Aptos"/>
                <a:cs typeface="Aptos"/>
              </a:defRPr>
            </a:pPr>
            <a:r>
              <a:t>MAX PAYOUT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73927FC-376A-41BF-9FB6-982C1C08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514850"/>
            <a:ext cx="19526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8FF"/>
                </a:solidFill>
                <a:latin typeface="Aptos Mono"/>
                <a:ea typeface="Aptos Mono"/>
                <a:cs typeface="Aptos Mono"/>
              </a:defRPr>
            </a:pPr>
            <a:r>
              <a:t>$25.00</a:t>
            </a:r>
          </a:p>
        </p:txBody>
      </p:sp>
      <p:cxnSp>
        <p:nvCxnSpPr>
          <p:cNvPr id="38" name="belief-connector-1"/>
          <p:cNvCxnSpPr>
            <a:stCxn xmlns:a="http://schemas.openxmlformats.org/drawingml/2006/main" id="4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762250" y="2143125"/>
            <a:ext cx="952500" cy="14382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F0C0"/>
            </a:solidFill>
            <a:prstDash val="solid"/>
            <a:headEnd type="none" w="med" len="med"/>
          </a:ln>
        </p:spPr>
      </p:cxnSp>
      <p:cxnSp>
        <p:nvCxnSpPr>
          <p:cNvPr id="39" name="belief-connector-2"/>
          <p:cNvCxnSpPr>
            <a:stCxn xmlns:a="http://schemas.openxmlformats.org/drawingml/2006/main" id="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762250" y="2886075"/>
            <a:ext cx="952500" cy="6953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F0C0"/>
            </a:solidFill>
            <a:prstDash val="solid"/>
            <a:headEnd type="none" w="med" len="med"/>
          </a:ln>
        </p:spPr>
      </p:cxnSp>
      <p:cxnSp>
        <p:nvCxnSpPr>
          <p:cNvPr id="40" name="belief-connector-3"/>
          <p:cNvCxnSpPr>
            <a:stCxn xmlns:a="http://schemas.openxmlformats.org/drawingml/2006/main" id="10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 flipV="1">
            <a:off x="2762250" y="3581400"/>
            <a:ext cx="952500" cy="47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F0C0"/>
            </a:solidFill>
            <a:prstDash val="solid"/>
            <a:headEnd type="none" w="med" len="med"/>
          </a:ln>
        </p:spPr>
      </p:cxnSp>
      <p:cxnSp>
        <p:nvCxnSpPr>
          <p:cNvPr id="41" name="belief-connector-4"/>
          <p:cNvCxnSpPr>
            <a:stCxn xmlns:a="http://schemas.openxmlformats.org/drawingml/2006/main" id="13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 flipV="1">
            <a:off x="2762250" y="3581400"/>
            <a:ext cx="952500" cy="7905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F0C0"/>
            </a:solidFill>
            <a:prstDash val="solid"/>
            <a:headEnd type="none" w="med" len="med"/>
          </a:ln>
        </p:spPr>
      </p:cxnSp>
      <p:cxnSp>
        <p:nvCxnSpPr>
          <p:cNvPr id="42" name="belief-connector-5"/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 flipV="1">
            <a:off x="2762250" y="3581400"/>
            <a:ext cx="952500" cy="1533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F0C0"/>
            </a:solidFill>
            <a:prstDash val="solid"/>
            <a:headEnd type="none" w="med" len="med"/>
          </a:ln>
        </p:spPr>
      </p:cxnSp>
      <p:cxnSp>
        <p:nvCxnSpPr>
          <p:cNvPr id="43" name="blend-to-price"/>
          <p:cNvCxnSpPr>
            <a:stCxn xmlns:a="http://schemas.openxmlformats.org/drawingml/2006/main" id="19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 flipV="1">
            <a:off x="6096000" y="3571875"/>
            <a:ext cx="62865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F0C0"/>
            </a:solidFill>
            <a:prstDash val="solid"/>
            <a:headEnd type="none" w="med" len="med"/>
          </a:ln>
        </p:spPr>
      </p:cxnSp>
      <p:cxnSp>
        <p:nvCxnSpPr>
          <p:cNvPr id="44" name="price-to-contract"/>
          <p:cNvCxnSpPr>
            <a:stCxn xmlns:a="http://schemas.openxmlformats.org/drawingml/2006/main" id="24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 flipV="1">
            <a:off x="8477250" y="3562350"/>
            <a:ext cx="64770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F0C0"/>
            </a:solidFill>
            <a:prstDash val="solid"/>
            <a:headEnd type="none" w="med" len="med"/>
          </a:ln>
        </p:spPr>
      </p:cxn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77790E1-2AD5-48BC-A56F-3864A3F0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4810125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BELIEF STREAMS Pricing engine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0E63FB6-68C6-4AE8-AE05-ABF31DDE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905500"/>
            <a:ext cx="5381625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B86B"/>
                </a:solidFill>
                <a:latin typeface="Aptos"/>
                <a:ea typeface="Aptos"/>
                <a:cs typeface="Aptos"/>
              </a:defRPr>
            </a:pPr>
            <a:r>
              <a:t>MACHINE-NATIVE MICRO-RISK New asset class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001FCDA-CE31-4CAA-AB1C-DC99447B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9715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792"/>
                </a:solidFill>
                <a:latin typeface="Aptos"/>
                <a:ea typeface="Aptos"/>
                <a:cs typeface="Aptos"/>
              </a:defRPr>
            </a:pPr>
            <a:r>
              <a:t>Prototype mechanism · Five Gemini personas · Weighted by calibration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0C2C69D-32CD-4760-B378-D705F799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24625"/>
            <a:ext cx="3238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582945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04-marker">
            <a:extLst xmlns:a="http://schemas.openxmlformats.org/drawingml/2006/main">
              <a:ext uri="{FF2B5EF4-FFF2-40B4-BE49-F238E27FC236}">
                <a16:creationId xmlns:a16="http://schemas.microsoft.com/office/drawing/2014/main" id="{EC8885D8-B68D-468D-8569-19E6B72F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7625" cy="1714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F0C0"/>
          </a:solidFill>
          <a:ln xmlns:a="http://schemas.openxmlformats.org/drawingml/2006/main" w="0">
            <a:solidFill>
              <a:srgbClr val="4DF0C0"/>
            </a:solidFill>
            <a:prstDash val="solid"/>
          </a:ln>
        </p:spPr>
      </p:sp>
      <p:sp>
        <p:nvSpPr>
          <p:cNvPr id="2" name="kicker-04-label">
            <a:extLst xmlns:a="http://schemas.openxmlformats.org/drawingml/2006/main">
              <a:ext uri="{FF2B5EF4-FFF2-40B4-BE49-F238E27FC236}">
                <a16:creationId xmlns:a16="http://schemas.microsoft.com/office/drawing/2014/main" id="{7F7D9D46-A1A1-4BEE-9210-68AA54E0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LIVE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41C424-C357-4556-948A-7F60CA69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t>This is already a working exchange loop — not a concept slide.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EC6A39-AF55-41BF-BE44-E7F08965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7800"/>
            <a:ext cx="8667750" cy="5010150"/>
          </a:xfrm>
          <a:prstGeom xmlns:a="http://schemas.openxmlformats.org/drawingml/2006/main" prst="roundRect">
            <a:avLst>
              <a:gd name="adj" fmla="val 3042"/>
            </a:avLst>
          </a:prstGeom>
          <a:solidFill xmlns:a="http://schemas.openxmlformats.org/drawingml/2006/main">
            <a:srgbClr val="050B13"/>
          </a:solidFill>
          <a:ln xmlns:a="http://schemas.openxmlformats.org/drawingml/2006/main" w="9525">
            <a:solidFill>
              <a:srgbClr val="294056"/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8c4c0d117e4a84"/>
          <a:stretch xmlns:a="http://schemas.openxmlformats.org/drawingml/2006/main"/>
        </p:blipFill>
        <p:spPr>
          <a:xfrm xmlns:a="http://schemas.openxmlformats.org/drawingml/2006/main">
            <a:off x="542925" y="1563291"/>
            <a:ext cx="8496300" cy="4779169"/>
          </a:xfrm>
          <a:prstGeom xmlns:a="http://schemas.openxmlformats.org/drawingml/2006/main" prst="roundRect">
            <a:avLst>
              <a:gd name="adj" fmla="val 1969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59CBD5-85E7-4C42-827A-4E5461840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733550"/>
            <a:ext cx="214312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OBSERVED STATE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07980-8B19-4A1B-B869-CA481387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133600"/>
            <a:ext cx="22288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0B1A29"/>
          </a:solidFill>
          <a:ln xmlns:a="http://schemas.openxmlformats.org/drawingml/2006/main" w="9525">
            <a:solidFill>
              <a:srgbClr val="5EA7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60DD1D-34B0-4C53-8959-366ED34DF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66950"/>
            <a:ext cx="1885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5EA7FF"/>
                </a:solidFill>
                <a:latin typeface="Aptos Mono"/>
                <a:ea typeface="Aptos Mono"/>
                <a:cs typeface="Aptos Mono"/>
              </a:defRPr>
            </a:pPr>
            <a:r>
              <a:t>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854F6A-0C0E-4D1A-A04F-18DBCE1F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47950"/>
            <a:ext cx="1885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0A2BA"/>
                </a:solidFill>
                <a:latin typeface="Aptos"/>
                <a:ea typeface="Aptos"/>
                <a:cs typeface="Aptos"/>
              </a:defRPr>
            </a:pPr>
            <a:r>
              <a:t>AI belief streams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90C043-31CC-41B6-9BC6-7C60FE5B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00400"/>
            <a:ext cx="22288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0B1A29"/>
          </a:solidFill>
          <a:ln xmlns:a="http://schemas.openxmlformats.org/drawingml/2006/main" w="9525">
            <a:solidFill>
              <a:srgbClr val="FFB86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3A5E4A-77EB-4ECA-9C7C-4E962E40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33750"/>
            <a:ext cx="1885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B86B"/>
                </a:solidFill>
                <a:latin typeface="Aptos Mono"/>
                <a:ea typeface="Aptos Mono"/>
                <a:cs typeface="Aptos Mono"/>
              </a:defRPr>
            </a:pPr>
            <a:r>
              <a:t>$25.00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EF7A00-F08A-4A3B-9B18-9A3F22E3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14750"/>
            <a:ext cx="1885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0A2BA"/>
                </a:solidFill>
                <a:latin typeface="Aptos"/>
                <a:ea typeface="Aptos"/>
                <a:cs typeface="Aptos"/>
              </a:defRPr>
            </a:pPr>
            <a:r>
              <a:t>maximum payout locked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7A5386-C215-4731-9CBA-78E030250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267200"/>
            <a:ext cx="22288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0B1A29"/>
          </a:solidFill>
          <a:ln xmlns:a="http://schemas.openxmlformats.org/drawingml/2006/main" w="9525">
            <a:solidFill>
              <a:srgbClr val="4DF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856913-BD67-45E2-9A81-F77C5B61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400550"/>
            <a:ext cx="1885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4DF0C0"/>
                </a:solidFill>
                <a:latin typeface="Aptos Mono"/>
                <a:ea typeface="Aptos Mono"/>
                <a:cs typeface="Aptos Mono"/>
              </a:defRPr>
            </a:pPr>
            <a:r>
              <a:t>$0.26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78B27C-1B98-4C92-9DD8-908DF28C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81550"/>
            <a:ext cx="1885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0A2BA"/>
                </a:solidFill>
                <a:latin typeface="Aptos"/>
                <a:ea typeface="Aptos"/>
                <a:cs typeface="Aptos"/>
              </a:defRPr>
            </a:pPr>
            <a:r>
              <a:t>venue fee landed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A68CC9-6212-40BA-8D79-9C057645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486400"/>
            <a:ext cx="2143125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Replay data keeps the stage demo deterministic. Live feeds are the production path.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C97042-9F82-486F-AD75-8A50BE1A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9715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792"/>
                </a:solidFill>
                <a:latin typeface="Aptos"/>
                <a:ea typeface="Aptos"/>
                <a:cs typeface="Aptos"/>
              </a:defRPr>
            </a:pPr>
            <a:r>
              <a:t>Verified local capture · Streamlit + Python + Gemini 3.5 Flash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C47819-A904-40C3-AEB1-031A2594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24625"/>
            <a:ext cx="3238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36281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05-marker">
            <a:extLst xmlns:a="http://schemas.openxmlformats.org/drawingml/2006/main">
              <a:ext uri="{FF2B5EF4-FFF2-40B4-BE49-F238E27FC236}">
                <a16:creationId xmlns:a16="http://schemas.microsoft.com/office/drawing/2014/main" id="{CA7BEF51-2DC5-47F6-9672-6EE3A5DD1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7625" cy="1714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F0C0"/>
          </a:solidFill>
          <a:ln xmlns:a="http://schemas.openxmlformats.org/drawingml/2006/main" w="0">
            <a:solidFill>
              <a:srgbClr val="4DF0C0"/>
            </a:solidFill>
            <a:prstDash val="solid"/>
          </a:ln>
        </p:spPr>
      </p:sp>
      <p:sp>
        <p:nvSpPr>
          <p:cNvPr id="2" name="kicker-05-label">
            <a:extLst xmlns:a="http://schemas.openxmlformats.org/drawingml/2006/main">
              <a:ext uri="{FF2B5EF4-FFF2-40B4-BE49-F238E27FC236}">
                <a16:creationId xmlns:a16="http://schemas.microsoft.com/office/drawing/2014/main" id="{A5006F96-F7EA-4343-9B93-7127F7A1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THE CORE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B9D5EC-D2F6-4BF5-BF60-3EC9B581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6680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t>Full collateral before premium makes every contract default-proof by construction.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0CBF1F-9F26-4B57-A3FA-DE1D35B9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23812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0B1A29"/>
          </a:solidFill>
          <a:ln xmlns:a="http://schemas.openxmlformats.org/drawingml/2006/main" w="9525">
            <a:solidFill>
              <a:srgbClr val="5EA7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BD3E1C-5EFA-4C37-BBC7-E587AEA98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438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EA7FF"/>
                </a:solidFill>
                <a:latin typeface="Aptos Mono"/>
                <a:ea typeface="Aptos Mono"/>
                <a:cs typeface="Aptos Mono"/>
              </a:defRPr>
            </a:pPr>
            <a: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C061D6-409C-455F-8F48-C69B5479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00300"/>
            <a:ext cx="1524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A7FF"/>
                </a:solidFill>
                <a:latin typeface="Aptos"/>
                <a:ea typeface="Aptos"/>
                <a:cs typeface="Aptos"/>
              </a:defRPr>
            </a:pPr>
            <a:r>
              <a:t>CONTRACT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0B3A40-5F1E-45B2-BE52-1888251C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2019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Binary claim strike · expiry · notional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EBB0D9-7FAE-4DF2-8720-1FFA9ED8A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247900"/>
            <a:ext cx="23812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0B1A29"/>
          </a:solidFill>
          <a:ln xmlns:a="http://schemas.openxmlformats.org/drawingml/2006/main" w="9525">
            <a:solidFill>
              <a:srgbClr val="5EA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384ABF-DE92-4730-8AE0-6A4A6F625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381250"/>
            <a:ext cx="438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EA7FF"/>
                </a:solidFill>
                <a:latin typeface="Aptos Mono"/>
                <a:ea typeface="Aptos Mono"/>
                <a:cs typeface="Aptos Mono"/>
              </a:defRPr>
            </a:pPr>
            <a: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FC76D2-4827-46D1-ACC0-13EFF043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400300"/>
            <a:ext cx="1524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A7FF"/>
                </a:solidFill>
                <a:latin typeface="Aptos"/>
                <a:ea typeface="Aptos"/>
                <a:cs typeface="Aptos"/>
              </a:defRPr>
            </a:pPr>
            <a:r>
              <a:t>BELIEFS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E88FE7-3B69-4B21-A1B6-59545D1B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00350"/>
            <a:ext cx="2019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Agents post probabilities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40B8F3-C784-40EA-8A0A-4275D829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247900"/>
            <a:ext cx="23812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0B1A29"/>
          </a:solidFill>
          <a:ln xmlns:a="http://schemas.openxmlformats.org/drawingml/2006/main" w="9525">
            <a:solidFill>
              <a:srgbClr val="5EA7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46001A-4136-4727-BB58-E7ABA0FE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81250"/>
            <a:ext cx="438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EA7FF"/>
                </a:solidFill>
                <a:latin typeface="Aptos Mono"/>
                <a:ea typeface="Aptos Mono"/>
                <a:cs typeface="Aptos Mono"/>
              </a:defRPr>
            </a:pPr>
            <a: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3B1244-428B-406A-BCC6-A39AE19D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00300"/>
            <a:ext cx="1524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A7FF"/>
                </a:solidFill>
                <a:latin typeface="Aptos"/>
                <a:ea typeface="Aptos"/>
                <a:cs typeface="Aptos"/>
              </a:defRPr>
            </a:pPr>
            <a:r>
              <a:t>MATCH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D9A776-3BA1-4BE2-BECC-D6E16ACB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00350"/>
            <a:ext cx="2019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Hedger pays fair premium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53054D-813D-48EA-B652-A7C3CB52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247900"/>
            <a:ext cx="23812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251D15"/>
          </a:solidFill>
          <a:ln xmlns:a="http://schemas.openxmlformats.org/drawingml/2006/main" w="28575">
            <a:solidFill>
              <a:srgbClr val="FFB86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7A156D-D1AC-4116-A397-6E475361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81250"/>
            <a:ext cx="438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B86B"/>
                </a:solidFill>
                <a:latin typeface="Aptos Mono"/>
                <a:ea typeface="Aptos Mono"/>
                <a:cs typeface="Aptos Mono"/>
              </a:defRPr>
            </a:pPr>
            <a: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C4FC87-CD76-46BA-B318-EB26BD5C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400300"/>
            <a:ext cx="1524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B86B"/>
                </a:solidFill>
                <a:latin typeface="Aptos"/>
                <a:ea typeface="Aptos"/>
                <a:cs typeface="Aptos"/>
              </a:defRPr>
            </a:pPr>
            <a:r>
              <a:t>COLLATERAL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A3D7BB-1E6E-4BE9-97D7-70ADD677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800350"/>
            <a:ext cx="2019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Taker locks MAX PAYOUT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3EA64E-A1C3-4DD3-9CDB-F6FBBCB8E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343400"/>
            <a:ext cx="23812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0B1A29"/>
          </a:solidFill>
          <a:ln xmlns:a="http://schemas.openxmlformats.org/drawingml/2006/main" w="9525">
            <a:solidFill>
              <a:srgbClr val="5EA7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C82C94-E4E0-4AB6-96A0-83913750F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76750"/>
            <a:ext cx="438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EA7FF"/>
                </a:solidFill>
                <a:latin typeface="Aptos Mono"/>
                <a:ea typeface="Aptos Mono"/>
                <a:cs typeface="Aptos Mono"/>
              </a:defRPr>
            </a:pPr>
            <a: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525EDD-2488-4A21-AD52-08C42659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495800"/>
            <a:ext cx="1524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A7FF"/>
                </a:solidFill>
                <a:latin typeface="Aptos"/>
                <a:ea typeface="Aptos"/>
                <a:cs typeface="Aptos"/>
              </a:defRPr>
            </a:pPr>
            <a:r>
              <a:t>ORACLE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F8BA98-8819-4E10-A920-73ED8808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895850"/>
            <a:ext cx="2019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Read replay price at expiry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C0017E-6F88-4338-BCD5-7C3B3CBE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343400"/>
            <a:ext cx="23812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0B1A29"/>
          </a:solidFill>
          <a:ln xmlns:a="http://schemas.openxmlformats.org/drawingml/2006/main" w="9525">
            <a:solidFill>
              <a:srgbClr val="4DF0C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95729E-77FC-4629-A28D-966D0B36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76750"/>
            <a:ext cx="438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DF0C0"/>
                </a:solidFill>
                <a:latin typeface="Aptos Mono"/>
                <a:ea typeface="Aptos Mono"/>
                <a:cs typeface="Aptos Mono"/>
              </a:defRPr>
            </a:pPr>
            <a:r>
              <a:t>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275C8D-FBFA-4637-B657-B8AE1EC0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495800"/>
            <a:ext cx="1524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SETTLE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1047BF-1AEB-408D-B65E-63113D6E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895850"/>
            <a:ext cx="2019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Move locked funds to winner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914CF8-F20C-4EAF-BB72-5BD546C3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343400"/>
            <a:ext cx="23812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0B1A29"/>
          </a:solidFill>
          <a:ln xmlns:a="http://schemas.openxmlformats.org/drawingml/2006/main" w="9525">
            <a:solidFill>
              <a:srgbClr val="4DF0C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A10ADD-EC24-444C-9575-158DA86A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476750"/>
            <a:ext cx="438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DF0C0"/>
                </a:solidFill>
                <a:latin typeface="Aptos Mono"/>
                <a:ea typeface="Aptos Mono"/>
                <a:cs typeface="Aptos Mono"/>
              </a:defRPr>
            </a:pPr>
            <a:r>
              <a:t>07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8AFAF3-4556-4EC0-966D-427F939A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495800"/>
            <a:ext cx="1524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REPUTATION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D2B52-BEC4-4164-9EEC-1A1523D64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895850"/>
            <a:ext cx="2019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Score calibration + PnL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77C71F-97B4-4B1C-8FB6-41DEAD7F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23812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0B1A29"/>
          </a:solidFill>
          <a:ln xmlns:a="http://schemas.openxmlformats.org/drawingml/2006/main" w="9525">
            <a:solidFill>
              <a:srgbClr val="4DF0C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6B31589-0E3F-45AD-B543-E02F647A3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438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DF0C0"/>
                </a:solidFill>
                <a:latin typeface="Aptos Mono"/>
                <a:ea typeface="Aptos Mono"/>
                <a:cs typeface="Aptos Mono"/>
              </a:defRPr>
            </a:pPr>
            <a:r>
              <a:t>08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5A351A-F137-4589-94A2-8ACF8EA1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95800"/>
            <a:ext cx="1524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FEE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A52585-4487-4620-88F4-8AED2DB8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2019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Venue takes a small cut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48C2A90-F56F-4D09-AABE-118DE9E2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724150"/>
            <a:ext cx="323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90A2BA"/>
                </a:solidFill>
                <a:latin typeface="Aptos"/>
                <a:ea typeface="Aptos"/>
                <a:cs typeface="Aptos"/>
              </a:defRPr>
            </a:pPr>
            <a:r>
              <a:t>›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5933C6-3EA0-408C-A0F7-06622559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724150"/>
            <a:ext cx="323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90A2BA"/>
                </a:solidFill>
                <a:latin typeface="Aptos"/>
                <a:ea typeface="Aptos"/>
                <a:cs typeface="Aptos"/>
              </a:defRPr>
            </a:pPr>
            <a:r>
              <a:t>›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7F29743-A9B7-4A34-A3B5-832D1A1B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323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90A2BA"/>
                </a:solidFill>
                <a:latin typeface="Aptos"/>
                <a:ea typeface="Aptos"/>
                <a:cs typeface="Aptos"/>
              </a:defRPr>
            </a:pPr>
            <a:r>
              <a:t>›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A932D49-099D-471C-A595-4FEBC3E9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838575"/>
            <a:ext cx="323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90A2BA"/>
                </a:solidFill>
                <a:latin typeface="Aptos"/>
                <a:ea typeface="Aptos"/>
                <a:cs typeface="Aptos"/>
              </a:defRPr>
            </a:pPr>
            <a:r>
              <a:t>↓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BFDF8AD-F548-49D3-AD8D-37D8E245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819650"/>
            <a:ext cx="323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90A2BA"/>
                </a:solidFill>
                <a:latin typeface="Aptos"/>
                <a:ea typeface="Aptos"/>
                <a:cs typeface="Aptos"/>
              </a:defRPr>
            </a:pPr>
            <a:r>
              <a:t>‹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481C9A5-FA7D-4A28-AFD8-DAD9FA4E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819650"/>
            <a:ext cx="323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90A2BA"/>
                </a:solidFill>
                <a:latin typeface="Aptos"/>
                <a:ea typeface="Aptos"/>
                <a:cs typeface="Aptos"/>
              </a:defRPr>
            </a:pPr>
            <a:r>
              <a:t>‹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9D2B85B-6E78-41FB-B779-63C99B28D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819650"/>
            <a:ext cx="323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90A2BA"/>
                </a:solidFill>
                <a:latin typeface="Aptos"/>
                <a:ea typeface="Aptos"/>
                <a:cs typeface="Aptos"/>
              </a:defRPr>
            </a:pPr>
            <a:r>
              <a:t>‹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3DDB91-73A0-4D34-B202-FC432D9B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828800"/>
            <a:ext cx="4572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86B"/>
          </a:solidFill>
          <a:ln xmlns:a="http://schemas.openxmlformats.org/drawingml/2006/main" w="0">
            <a:solidFill>
              <a:srgbClr val="FFB86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E70D544-58C6-4C28-9BE8-DE4D6C5E2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85950"/>
            <a:ext cx="4267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t>INVARIANT: LOCK THE MAXIMUM PAYOUT UPFRONT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3728738-C74B-4745-B203-2E9A54E1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9715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792"/>
                </a:solidFill>
                <a:latin typeface="Aptos"/>
                <a:ea typeface="Aptos"/>
                <a:cs typeface="Aptos"/>
              </a:defRPr>
            </a:pPr>
            <a:r>
              <a:t>RiskMesh lifecycle · deterministic replay oracle · fake-money ledger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F2A4B23-4DD8-4372-97B5-7B855C9BC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24625"/>
            <a:ext cx="3238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284314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29DF2420-C221-4BEA-A284-9E1779A8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7625" cy="1714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F0C0"/>
          </a:solidFill>
          <a:ln xmlns:a="http://schemas.openxmlformats.org/drawingml/2006/main" w="0">
            <a:solidFill>
              <a:srgbClr val="4DF0C0"/>
            </a:solidFill>
            <a:prstDash val="solid"/>
          </a:ln>
        </p:spPr>
      </p:sp>
      <p:sp>
        <p:nvSpPr>
          <p:cNvPr id="2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6C162B3F-D18D-4578-A964-28B1B7A1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BUSINESS + MOAT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6E0EA3-ADC4-4C68-8911-5D291863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6680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t>Every match earns a fee. Every settlement improves the pricing moat.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A85CE6-6CA0-4C59-9ACF-B57821DA9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2857500" cy="310515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0A1826"/>
          </a:solidFill>
          <a:ln xmlns:a="http://schemas.openxmlformats.org/drawingml/2006/main" w="9525">
            <a:solidFill>
              <a:srgbClr val="29405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DFFB21-3871-46DD-A389-EA7FADD9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95550"/>
            <a:ext cx="238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TRANSACTION REVENUE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84287F-68A3-40C9-86B5-25CC9242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43225"/>
            <a:ext cx="23622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4F8FF"/>
                </a:solidFill>
                <a:latin typeface="Aptos Mono"/>
                <a:ea typeface="Aptos Mono"/>
                <a:cs typeface="Aptos Mono"/>
              </a:defRPr>
            </a:pPr>
            <a:r>
              <a:t>2%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886BC0-50D1-4718-B15A-BDAC83725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2333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90A2BA"/>
                </a:solidFill>
                <a:latin typeface="Aptos"/>
                <a:ea typeface="Aptos"/>
                <a:cs typeface="Aptos"/>
              </a:defRPr>
            </a:pPr>
            <a:r>
              <a:t>cut of each matched premium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56C48A-4067-434D-923B-E7124455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2333625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Prototype proof: $0.26 fee on a $13.18 premium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0A99DA-24D2-4F55-A8FD-11D87BE1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76450"/>
            <a:ext cx="2000250" cy="952500"/>
          </a:xfrm>
          <a:prstGeom xmlns:a="http://schemas.openxmlformats.org/drawingml/2006/main" prst="roundRect">
            <a:avLst>
              <a:gd name="adj" fmla="val 18000"/>
            </a:avLst>
          </a:prstGeom>
          <a:solidFill xmlns:a="http://schemas.openxmlformats.org/drawingml/2006/main">
            <a:srgbClr val="0B1A29"/>
          </a:solidFill>
          <a:ln xmlns:a="http://schemas.openxmlformats.org/drawingml/2006/main" w="19050">
            <a:solidFill>
              <a:srgbClr val="5EA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3ABDE2-926D-4278-AAD9-786FD156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2885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EA7FF"/>
                </a:solidFill>
                <a:latin typeface="Aptos"/>
                <a:ea typeface="Aptos"/>
                <a:cs typeface="Aptos"/>
              </a:defRPr>
            </a:pPr>
            <a:r>
              <a:t>MATCH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0086FA-AD29-4774-B159-330FF6FB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71750"/>
            <a:ext cx="1657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Contract clears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4CF0D1-4176-42E3-852D-ED37AAD8E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076450"/>
            <a:ext cx="2000250" cy="952500"/>
          </a:xfrm>
          <a:prstGeom xmlns:a="http://schemas.openxmlformats.org/drawingml/2006/main" prst="roundRect">
            <a:avLst>
              <a:gd name="adj" fmla="val 18000"/>
            </a:avLst>
          </a:prstGeom>
          <a:solidFill xmlns:a="http://schemas.openxmlformats.org/drawingml/2006/main">
            <a:srgbClr val="0B1A29"/>
          </a:solidFill>
          <a:ln xmlns:a="http://schemas.openxmlformats.org/drawingml/2006/main" w="19050">
            <a:solidFill>
              <a:srgbClr val="FFB86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597264-3813-4027-B0A8-460EB1551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2885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B86B"/>
                </a:solidFill>
                <a:latin typeface="Aptos"/>
                <a:ea typeface="Aptos"/>
                <a:cs typeface="Aptos"/>
              </a:defRPr>
            </a:pPr>
            <a:r>
              <a:t>SETTLE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5FCD45-3F7B-4632-B59C-EC0833C99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71750"/>
            <a:ext cx="1657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Outcome resolves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D4844E-1ACB-49AF-A482-8965BA76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362450"/>
            <a:ext cx="2000250" cy="952500"/>
          </a:xfrm>
          <a:prstGeom xmlns:a="http://schemas.openxmlformats.org/drawingml/2006/main" prst="roundRect">
            <a:avLst>
              <a:gd name="adj" fmla="val 18000"/>
            </a:avLst>
          </a:prstGeom>
          <a:solidFill xmlns:a="http://schemas.openxmlformats.org/drawingml/2006/main">
            <a:srgbClr val="0B1A29"/>
          </a:solidFill>
          <a:ln xmlns:a="http://schemas.openxmlformats.org/drawingml/2006/main" w="19050">
            <a:solidFill>
              <a:srgbClr val="4DF0C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9AFB66-4C2D-4E0A-8D81-9B7DD8B52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51485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REWEIGHT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307CA3-696C-4CE1-9654-60003AA9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857750"/>
            <a:ext cx="1657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Better forecasters matter more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34149E-BC58-4A45-8FB8-A9E865AE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362450"/>
            <a:ext cx="2000250" cy="952500"/>
          </a:xfrm>
          <a:prstGeom xmlns:a="http://schemas.openxmlformats.org/drawingml/2006/main" prst="roundRect">
            <a:avLst>
              <a:gd name="adj" fmla="val 18000"/>
            </a:avLst>
          </a:prstGeom>
          <a:solidFill xmlns:a="http://schemas.openxmlformats.org/drawingml/2006/main">
            <a:srgbClr val="0B1A29"/>
          </a:solidFill>
          <a:ln xmlns:a="http://schemas.openxmlformats.org/drawingml/2006/main" w="19050">
            <a:solidFill>
              <a:srgbClr val="C989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381076-3AB1-4D78-835F-121873D3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51485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989FF"/>
                </a:solidFill>
                <a:latin typeface="Aptos"/>
                <a:ea typeface="Aptos"/>
                <a:cs typeface="Aptos"/>
              </a:defRPr>
            </a:pPr>
            <a:r>
              <a:t>PRICE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EB895D-BC6A-431E-B910-8142690CB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857750"/>
            <a:ext cx="1657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Fair premium improves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CFFF6-FA6F-4904-A51E-79B10ABF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19450"/>
            <a:ext cx="419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74D6A4-6A36-41C8-9BEE-E63E12E64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81400"/>
            <a:ext cx="8953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DATA MOAT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37B07E-CC85-4CA6-A78F-53BD53DA7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90950"/>
            <a:ext cx="6858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978ACF-E32D-424D-B3CD-A840C5B2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62200"/>
            <a:ext cx="1905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EA7FF"/>
                </a:solidFill>
                <a:latin typeface="Aptos"/>
                <a:ea typeface="Aptos"/>
                <a:cs typeface="Aptos"/>
              </a:defRPr>
            </a:pPr>
            <a:r>
              <a:t>WHAT COMPOUNDS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F05690-D6E9-4A42-BAAD-90B308D3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00350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DF0C0"/>
                </a:solidFill>
                <a:latin typeface="Aptos Mono"/>
                <a:ea typeface="Aptos Mono"/>
                <a:cs typeface="Aptos Mono"/>
              </a:defRPr>
            </a:pPr>
            <a:r>
              <a:t>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601AEC-D488-4A83-BA52-6C8DDB03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800350"/>
            <a:ext cx="161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Brier calibration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81A3DD-18F4-4A38-9D35-58785692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333750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DF0C0"/>
                </a:solidFill>
                <a:latin typeface="Aptos Mono"/>
                <a:ea typeface="Aptos Mono"/>
                <a:cs typeface="Aptos Mono"/>
              </a:defRPr>
            </a:pPr>
            <a: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8882A6-5EA1-4462-A41F-50E92C4F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33750"/>
            <a:ext cx="161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Forecast history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96E10A-6D0A-47DB-902D-9646C95B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867150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DF0C0"/>
                </a:solidFill>
                <a:latin typeface="Aptos Mono"/>
                <a:ea typeface="Aptos Mono"/>
                <a:cs typeface="Aptos Mono"/>
              </a:defRPr>
            </a:pPr>
            <a:r>
              <a:t>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527A9F-C76A-47A6-A6E6-FEF0B1FF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867150"/>
            <a:ext cx="161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Agent PnL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970D88E-42F9-4C59-80E0-E14CF084A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00550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DF0C0"/>
                </a:solidFill>
                <a:latin typeface="Aptos Mono"/>
                <a:ea typeface="Aptos Mono"/>
                <a:cs typeface="Aptos Mono"/>
              </a:defRPr>
            </a:pPr>
            <a:r>
              <a:t>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CC6046-621E-4B6C-921B-172E3863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400550"/>
            <a:ext cx="161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Future belief weights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B8358A-1085-44D9-BDE7-B4B9EC332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0A2029"/>
          </a:solidFill>
          <a:ln xmlns:a="http://schemas.openxmlformats.org/drawingml/2006/main" w="9525">
            <a:solidFill>
              <a:srgbClr val="4DF0C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0878E09-40DD-4626-A655-10E919E3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15025"/>
            <a:ext cx="10515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AWS production path: ECS/Fargate venue · Kinesis event stream · RDS/DynamoDB state · CloudWatch controls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51920C-816E-4C3E-B0C6-0F35B991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9715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792"/>
                </a:solidFill>
                <a:latin typeface="Aptos"/>
                <a:ea typeface="Aptos"/>
                <a:cs typeface="Aptos"/>
              </a:defRPr>
            </a:pPr>
            <a:r>
              <a:t>Business model: clearing fees · Data moat: calibration + PnL history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7E6F28A-3FF6-42B9-A76A-5ACB94593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24625"/>
            <a:ext cx="3238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801631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5AA36906-C36C-4D8B-B10D-1076CA230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7625" cy="1714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F0C0"/>
          </a:solidFill>
          <a:ln xmlns:a="http://schemas.openxmlformats.org/drawingml/2006/main" w="0">
            <a:solidFill>
              <a:srgbClr val="4DF0C0"/>
            </a:solidFill>
            <a:prstDash val="solid"/>
          </a:ln>
        </p:spPr>
      </p:sp>
      <p:sp>
        <p:nvSpPr>
          <p:cNvPr id="2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8FAAD7FD-8595-4B65-881F-9879DA3C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HONEST RISKS + 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275342-4EAC-439C-BE60-3CE42FAB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6680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t>The risks are real — and they are why the exchange layer can be defensible.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A442C0-F333-476A-9161-0C16E50EA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810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B86B"/>
                </a:solidFill>
                <a:latin typeface="Aptos"/>
                <a:ea typeface="Aptos"/>
                <a:cs typeface="Aptos"/>
              </a:defRPr>
            </a:pPr>
            <a:r>
              <a:t>WHAT WE HAVE TO PROVE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BAED66-0416-4E1D-B99F-B03AD88E9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4763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B86B"/>
                </a:solidFill>
                <a:latin typeface="Aptos"/>
                <a:ea typeface="Aptos"/>
                <a:cs typeface="Aptos"/>
              </a:defRPr>
            </a:pPr>
            <a:r>
              <a:t>DEMAND TIMING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06944C-ED4F-4F49-9D54-1AFC0E03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457450"/>
            <a:ext cx="41719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The agent economy is still maturing.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0594FC-75AB-4E78-9516-E048A52D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971800"/>
            <a:ext cx="41719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0A2BA"/>
                </a:solidFill>
                <a:latin typeface="Aptos"/>
                <a:ea typeface="Aptos"/>
                <a:cs typeface="Aptos"/>
              </a:defRPr>
            </a:pPr>
            <a:r>
              <a:t>Start with treasury, trading, and operational bots where risk already exists.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EABF26-82DC-4974-8D28-E8EF1D82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571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6"/>
          </a:solidFill>
          <a:ln xmlns:a="http://schemas.openxmlformats.org/drawingml/2006/main" w="0">
            <a:solidFill>
              <a:srgbClr val="29405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0E0B57-F3B3-4435-93EA-FD8471BD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4763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B86B"/>
                </a:solidFill>
                <a:latin typeface="Aptos"/>
                <a:ea typeface="Aptos"/>
                <a:cs typeface="Aptos"/>
              </a:defRPr>
            </a:pPr>
            <a:r>
              <a:t>EDGE VS NOISE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76E34A-4CE9-4D4F-B3E3-557725C9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600450"/>
            <a:ext cx="41719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This is not solved alpha.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29F00A-EDD3-4023-B685-B6DBF4F1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114800"/>
            <a:ext cx="41719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0A2BA"/>
                </a:solidFill>
                <a:latin typeface="Aptos"/>
                <a:ea typeface="Aptos"/>
                <a:cs typeface="Aptos"/>
              </a:defRPr>
            </a:pPr>
            <a:r>
              <a:t>Score calibration, reward repeatable skill, and demo information-driven outcomes.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CF793F-E709-4E46-9A13-91457C33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571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6"/>
          </a:solidFill>
          <a:ln xmlns:a="http://schemas.openxmlformats.org/drawingml/2006/main" w="0">
            <a:solidFill>
              <a:srgbClr val="29405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C483E4-0A51-4B92-AC69-087029BA4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14763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B86B"/>
                </a:solidFill>
                <a:latin typeface="Aptos"/>
                <a:ea typeface="Aptos"/>
                <a:cs typeface="Aptos"/>
              </a:defRPr>
            </a:pPr>
            <a:r>
              <a:t>REGULATION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3F6FFF-CD1C-4F70-86C4-31AE6672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743450"/>
            <a:ext cx="41719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Agent-to-agent derivatives have no clear regime.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B32B7D-AD42-4FAE-A52D-C41AEFDB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41719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0A2BA"/>
                </a:solidFill>
                <a:latin typeface="Aptos"/>
                <a:ea typeface="Aptos"/>
                <a:cs typeface="Aptos"/>
              </a:defRPr>
            </a:pPr>
            <a:r>
              <a:t>Use a fully collateralized sandbox and launch with regulated partners.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87069C-4DDF-4CCE-BC20-42BA2909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571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6"/>
          </a:solidFill>
          <a:ln xmlns:a="http://schemas.openxmlformats.org/drawingml/2006/main" w="0">
            <a:solidFill>
              <a:srgbClr val="29405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F917C5-D52D-4002-BB6C-27A67D2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95500"/>
            <a:ext cx="4591050" cy="371475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A1826"/>
          </a:solidFill>
          <a:ln xmlns:a="http://schemas.openxmlformats.org/drawingml/2006/main" w="9525">
            <a:solidFill>
              <a:srgbClr val="29405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9F86C1-9C1A-4537-98DC-13B90A0C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81250"/>
            <a:ext cx="3905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EA7FF"/>
                </a:solidFill>
                <a:latin typeface="Aptos"/>
                <a:ea typeface="Aptos"/>
                <a:cs typeface="Aptos"/>
              </a:defRPr>
            </a:pPr>
            <a:r>
              <a:t>PRODUCTION ROADMAP — NOT IN THE MVP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D93913-94F1-47C6-82BE-C8602339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76550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DF0C0"/>
                </a:solidFill>
                <a:latin typeface="Aptos Mono"/>
                <a:ea typeface="Aptos Mono"/>
                <a:cs typeface="Aptos Mono"/>
              </a:defRPr>
            </a:pPr>
            <a: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EFFFBC-B7D2-4006-BA6E-453A3D4E2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76550"/>
            <a:ext cx="3333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Live price feeds + stronger oracle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AA7082-BA5F-47D7-9BBF-723DD2A5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429000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DF0C0"/>
                </a:solidFill>
                <a:latin typeface="Aptos Mono"/>
                <a:ea typeface="Aptos Mono"/>
                <a:cs typeface="Aptos Mono"/>
              </a:defRPr>
            </a:pPr>
            <a: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C96D78-8D44-4863-8827-25274C765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29000"/>
            <a:ext cx="3333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Onchain settlement + x402/AP2 integration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5229EE-0A82-437F-BAFA-BB828B74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981450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DF0C0"/>
                </a:solidFill>
                <a:latin typeface="Aptos Mono"/>
                <a:ea typeface="Aptos Mono"/>
                <a:cs typeface="Aptos Mono"/>
              </a:defRPr>
            </a:pPr>
            <a: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43144C-9A98-45F1-A14D-DBE6D7CD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81450"/>
            <a:ext cx="3333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Market-integrity surveillance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D96326-97FC-4DDC-963E-9CEA15F2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533900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DF0C0"/>
                </a:solidFill>
                <a:latin typeface="Aptos Mono"/>
                <a:ea typeface="Aptos Mono"/>
                <a:cs typeface="Aptos Mono"/>
              </a:defRPr>
            </a:pPr>
            <a: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2977C3-56EC-400F-B55E-B232779C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333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Real agent onboarding + KYC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55C978-00B1-4D39-A158-D17FE4AF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5124450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6"/>
          </a:solidFill>
          <a:ln xmlns:a="http://schemas.openxmlformats.org/drawingml/2006/main" w="0">
            <a:solidFill>
              <a:srgbClr val="29405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F68BA0-6300-4853-8425-A1629348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5314950"/>
            <a:ext cx="762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THE ASK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2CDDDB-AEE9-49A1-9973-084EBF155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57800"/>
            <a:ext cx="28765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8FF"/>
                </a:solidFill>
                <a:latin typeface="Aptos"/>
                <a:ea typeface="Aptos"/>
                <a:cs typeface="Aptos"/>
              </a:defRPr>
            </a:pPr>
            <a:r>
              <a:t>3 design partners · AWS credits · regulatory sandbox access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27A8B9-9C90-4284-8F82-702D42125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728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4DF0C0"/>
                </a:solidFill>
                <a:latin typeface="Aptos Display"/>
                <a:ea typeface="Aptos Display"/>
                <a:cs typeface="Aptos Display"/>
              </a:defRPr>
            </a:pPr>
            <a:r>
              <a:t>The rails are being built. RiskMesh is the exchange on top.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7B0093-2018-49B3-A861-B761946D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9715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792"/>
                </a:solidFill>
                <a:latin typeface="Aptos"/>
                <a:ea typeface="Aptos"/>
                <a:cs typeface="Aptos"/>
              </a:defRPr>
            </a:pPr>
            <a:r>
              <a:t>RiskMesh · iFX Hack 2026 · Built as a reproducible simulation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D8A518-993F-4EF5-BCF6-DA8902FB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24625"/>
            <a:ext cx="3238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4DF0C0"/>
                </a:solidFill>
                <a:latin typeface="Aptos"/>
                <a:ea typeface="Aptos"/>
                <a:cs typeface="Aptos"/>
              </a:defRPr>
            </a:pPr>
            <a: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852187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2026-06-14T03:33:02.9220000Z</dcterms:created>
  <dcterms:modified xsi:type="dcterms:W3CDTF">2026-06-14T03:33:02.9220000Z</dcterms:modified>
</coreProperties>
</file>